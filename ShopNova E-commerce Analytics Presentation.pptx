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5" r:id="rId3"/>
    <p:sldId id="264" r:id="rId4"/>
    <p:sldId id="259" r:id="rId5"/>
    <p:sldId id="260" r:id="rId6"/>
    <p:sldId id="266" r:id="rId7"/>
    <p:sldId id="267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>
        <p:scale>
          <a:sx n="93" d="100"/>
          <a:sy n="93" d="100"/>
        </p:scale>
        <p:origin x="2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40FA-C23B-4B70-D0C7-C8E836AD9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B7E7F-06C3-979B-AA0D-5FDA78153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3413-5E9D-367D-C308-45378405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9A24B-AB75-B082-7C3C-B4D56671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A474C-0F0C-488E-5E8F-4A73C51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91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4009-626F-DD24-0EBF-9C244EFC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68160-4D29-48BB-26DC-3B0CD37D4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FE4D5-2F56-3668-C78A-B5DADFC5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66ECB-7444-FCDF-F1C1-3E16DE8E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1CA-BD4B-CA09-1EBA-B97E7B8A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98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68118-3F5A-9479-88C7-3B5E46C0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7377E-4F4A-7B6C-F0E0-F46E3151E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AB998-7CE1-6654-4B4F-3BBB6B370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10A14-677F-044B-E0BC-8970587A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D6B96-14DD-16B3-4CAF-1ABA6CB9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20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92EF-4C85-B80F-B63F-DF22CAF6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576FF-8F8C-2FF3-FF9E-5A82AD35C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918C9-95D5-812F-1937-A4331D3F5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2EABD-904E-E6DA-0928-A25194DA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40CA2-20C2-9D05-7229-5F7D604A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ED934-F6A2-9B69-613E-E1AAC694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52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D1F9-18CC-E2E4-0C6E-30C58708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07E54-2618-2DD3-BDA8-6A7BD1DE5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9580B-9D89-9722-3041-DBEB6195E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47B99-9F34-73D8-131F-EA819F987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81AF5-EB39-63E6-8E96-872AA7E70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55BAD-D0CB-9389-CE7B-892A20C5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6C7F8-1EC4-1765-307E-B9D82303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654F0D-35D4-D43F-5A33-169D3704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01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8E24C-A6C4-683F-AC26-1FFBC554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6BFDB-56D1-06FC-6FA4-DE875914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416C7-A6EE-DFC5-14A2-82687F2D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D21B2-9889-6170-FFF4-76B74DBE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55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9EE5F-873A-530E-C316-27B9F21C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748B9-356E-3D2F-8894-8EB981892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4223A-9976-966F-7354-20F7ECC7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280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C753-E5F2-C2EC-DE3A-881CDF73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74681-1208-6539-E854-6115C172D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313A5-E2CB-93F5-B1B1-848928236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9038F-DF40-E832-CE92-41D466E5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86E45-61ED-33C3-9B63-3E6F52C1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8ACB7-136F-1665-E628-8B7115D4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09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4C96-FB48-2162-1D5D-B1C57637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665D8-BBAE-5728-3DE4-8C9C0B7F6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D53B6-FBB4-4337-22EC-29823CD33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F7C23-A9F7-8110-52F3-7F7AB332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A94C3-F9C8-193A-7333-C72031CC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9043D-A5CB-6238-2B3C-F4B4F489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204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3766-79EE-9639-DED6-E5567582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91C7B-12AA-7993-FC69-3708A72E9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DA7C4-A3FD-F7EA-625F-5C050B2A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BF959-5B6E-5696-43B5-B433D502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82113-CF7A-5F3A-E890-485C67C5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1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3B93C-6FE1-BEEC-A94F-2DB37685C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8C30F-595B-B185-A7CE-6443293FC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FC3ED-DC88-9FAD-74A9-E1993696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E33C8-6A6C-5076-CE36-056C7D80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ECA8-20B4-2D70-003B-4704A434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78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0C6ED-C343-FDE0-ACBF-3F5CF8E6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E4DC9-3B5A-21FA-4718-037EA3A78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81D2E-F20C-E87A-374F-BB4AF3EE0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9C103-A82B-44EE-BEDD-654245A40F3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3ABC-EA1B-E380-5DC2-9F8C77E1C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1398D-EA5A-F517-5D98-D4D636CB5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BDB67-CF4F-477F-9A00-C46FC771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7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0" r="-2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25656-92EE-6C09-B696-FC77AB5D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35B82C-43DA-46A0-AFD4-6E11F56A3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2283356"/>
            <a:ext cx="6734176" cy="2856272"/>
          </a:xfrm>
        </p:spPr>
        <p:txBody>
          <a:bodyPr>
            <a:normAutofit fontScale="32500" lnSpcReduction="20000"/>
          </a:bodyPr>
          <a:lstStyle/>
          <a:p>
            <a:r>
              <a:rPr lang="en-US" sz="2300" b="1" i="1" dirty="0">
                <a:solidFill>
                  <a:schemeClr val="bg1"/>
                </a:solidFill>
              </a:rPr>
              <a:t>            </a:t>
            </a:r>
          </a:p>
          <a:p>
            <a:pPr algn="l"/>
            <a:r>
              <a:rPr lang="en-US" sz="4000" b="1" i="1" dirty="0"/>
              <a:t>Analyze sales performance, regional customer behaviors, product profit margins and drivers to optimize Shopnova’s quarterly revenues.</a:t>
            </a:r>
          </a:p>
          <a:p>
            <a:endParaRPr lang="en-US" b="1" dirty="0"/>
          </a:p>
          <a:p>
            <a:pPr algn="l"/>
            <a:r>
              <a:rPr lang="en-US" sz="4800" b="1" u="sng" dirty="0"/>
              <a:t>Team Members: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4400" b="1" dirty="0"/>
              <a:t>Yash Mundhe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4400" b="1" dirty="0"/>
              <a:t>Ashish Raj 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4400" b="1" dirty="0"/>
              <a:t>Rohit Chauhan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4400" b="1" dirty="0"/>
              <a:t>Armaan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4400" b="1" dirty="0"/>
              <a:t>Shravani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4400" b="1" dirty="0"/>
              <a:t>Vaishnavi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5FCDC-3E0A-4CA3-9B6F-B7F65AFBB95A}"/>
              </a:ext>
            </a:extLst>
          </p:cNvPr>
          <p:cNvSpPr txBox="1"/>
          <p:nvPr/>
        </p:nvSpPr>
        <p:spPr>
          <a:xfrm>
            <a:off x="276225" y="1208782"/>
            <a:ext cx="82677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SHOPNOVA E-COMMERCE ANALYTICS DASHBOARD</a:t>
            </a:r>
            <a:endParaRPr lang="en-IN" sz="32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126BE-B463-A2D5-1D7E-F07077A2D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646" y="130242"/>
            <a:ext cx="2870529" cy="727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7523E1-A2A6-5DA7-2E1E-56991EB1DF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" y="5732834"/>
            <a:ext cx="1541564" cy="9822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E74092-5531-C8CC-9074-95DA86389C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509" y="5732833"/>
            <a:ext cx="1080796" cy="9822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3B5B62-070F-FF8F-3FD4-B587CFF688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025" y="5732833"/>
            <a:ext cx="1162050" cy="9822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8B5A57-2281-5FA1-D719-BE90E7FDA2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620" y="5732832"/>
            <a:ext cx="1735494" cy="9532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01AAAB-985E-A0B0-4C67-88F377AEE0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4" y="130242"/>
            <a:ext cx="2266951" cy="1077218"/>
          </a:xfrm>
          <a:prstGeom prst="rect">
            <a:avLst/>
          </a:prstGeom>
          <a:effectLst>
            <a:reflection stA="0" endPos="65000" dist="50800" dir="5400000" sy="-100000" algn="bl" rotWithShape="0"/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360767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907381"/>
            <a:ext cx="5038725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907381"/>
            <a:ext cx="521970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226718"/>
            <a:ext cx="5038725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226718"/>
            <a:ext cx="521970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226468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226468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4545806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4545806"/>
            <a:ext cx="609600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012" y="2397918"/>
            <a:ext cx="20002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975" y="2397918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675" y="4717256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2262" y="4717256"/>
            <a:ext cx="23812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828675"/>
            <a:ext cx="3886705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bg1"/>
                </a:solidFill>
                <a:latin typeface="Plus Jakarta Sans"/>
              </a:rPr>
              <a:t>Tools &amp; Technologies Used</a:t>
            </a:r>
            <a:r>
              <a:rPr lang="en-US" sz="2700" b="1" i="0" u="none" dirty="0">
                <a:solidFill>
                  <a:schemeClr val="bg1"/>
                </a:solidFill>
                <a:latin typeface="Plus Jakarta Sans"/>
              </a:rPr>
              <a:t>:</a:t>
            </a:r>
            <a:endParaRPr sz="270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38325" y="2183606"/>
            <a:ext cx="507563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8325" y="2478881"/>
            <a:ext cx="396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Data analysis, PivotTables, KPIs, and foundational trend examination.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6625" y="2183606"/>
            <a:ext cx="4905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Tableau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6625" y="2478881"/>
            <a:ext cx="396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Interactive visualizations and deep operational metric breakdowns.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8325" y="4502943"/>
            <a:ext cx="507563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8325" y="4798218"/>
            <a:ext cx="396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Interactive executive dashboards and dynamic KPI performance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6625" y="4502943"/>
            <a:ext cx="4905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MySQL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6625" y="4798218"/>
            <a:ext cx="396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Data querying, schema relational modeling, and strict KPI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597818"/>
            <a:ext cx="34290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1597818"/>
            <a:ext cx="34290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0" y="1597818"/>
            <a:ext cx="34290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898106"/>
            <a:ext cx="34290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1500" y="3898106"/>
            <a:ext cx="34290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0" y="3898106"/>
            <a:ext cx="34290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1835943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1835943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25" y="1835943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136231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625" y="4136231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125" y="4136231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1940718"/>
            <a:ext cx="1905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587" y="1940718"/>
            <a:ext cx="2190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0087" y="1940718"/>
            <a:ext cx="219075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900" y="4241006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3925" y="4241006"/>
            <a:ext cx="1524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3425" y="4241006"/>
            <a:ext cx="15240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0281" y="896571"/>
            <a:ext cx="269682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bg1"/>
                </a:solidFill>
                <a:latin typeface="Plus Jakarta Sans"/>
              </a:rPr>
              <a:t>Project Objectives</a:t>
            </a:r>
            <a:r>
              <a:rPr lang="en-US" sz="2700" b="1" i="0" u="none" dirty="0">
                <a:solidFill>
                  <a:schemeClr val="bg1"/>
                </a:solidFill>
                <a:latin typeface="Plus Jakarta Sans"/>
              </a:rPr>
              <a:t>:</a:t>
            </a:r>
            <a:endParaRPr sz="270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0125" y="2350293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Sales &amp; Revenue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2645568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Monitor total gross sales, net profit margins, and order volume trends across multiple product 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9625" y="2350293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Customer 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9625" y="2645568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Identify high-value customer groups and analyze lifetime value to optimize retention campaigns.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9125" y="2350293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Product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9125" y="2645568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Evaluate category-wise profitability and inventory turnover rates to prevent costly stockouts.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125" y="4650581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Regional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125" y="4945856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Pinpoint top-performing geographic markets to guide regional marketing and fulfillment strategies.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9625" y="4650581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Seasonal Identification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9625" y="4945856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Analyze order patterns and demand surges during major holiday seasons like Q4 promotional windows.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9125" y="4650581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BI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9125" y="4945856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Establish robust SQL-to-Dashboard pipelines enabling real-time executive decision making via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DC05-D602-6073-433E-D0D7DCE3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31" y="138883"/>
            <a:ext cx="10515600" cy="37016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us Jakarta Sans"/>
              </a:rPr>
              <a:t>Dashboards &amp; SQL Analysis:</a:t>
            </a:r>
            <a:endParaRPr lang="en-IN" sz="2800" b="1" dirty="0">
              <a:latin typeface="Plus Jakarta San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285F83-6282-B13D-B441-F6E602A9C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1" y="659877"/>
            <a:ext cx="5523385" cy="500563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D0F462-B6A5-E8E7-8381-7D3013142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04" y="659877"/>
            <a:ext cx="6271245" cy="50056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9AA849-47E0-7C63-35F4-44A38F0B588B}"/>
              </a:ext>
            </a:extLst>
          </p:cNvPr>
          <p:cNvSpPr txBox="1"/>
          <p:nvPr/>
        </p:nvSpPr>
        <p:spPr>
          <a:xfrm>
            <a:off x="292231" y="5816338"/>
            <a:ext cx="33088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Excel Analysis</a:t>
            </a:r>
            <a:br>
              <a:rPr lang="en-IN" dirty="0"/>
            </a:br>
            <a:r>
              <a:rPr lang="en-IN" dirty="0"/>
              <a:t>PivotTables, KPIs &amp; trend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2CBE84-6F71-794B-C601-FFB945CC9A23}"/>
              </a:ext>
            </a:extLst>
          </p:cNvPr>
          <p:cNvSpPr txBox="1"/>
          <p:nvPr/>
        </p:nvSpPr>
        <p:spPr>
          <a:xfrm>
            <a:off x="5769204" y="5816337"/>
            <a:ext cx="368912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Power BI Dashboard</a:t>
            </a:r>
            <a:br>
              <a:rPr lang="en-US" dirty="0"/>
            </a:br>
            <a:r>
              <a:rPr lang="en-US" dirty="0"/>
              <a:t>KPI monitoring &amp; interactive analysis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B3295E5-9045-DA5F-FA69-78DB545A0B9C}"/>
              </a:ext>
            </a:extLst>
          </p:cNvPr>
          <p:cNvCxnSpPr>
            <a:cxnSpLocks/>
          </p:cNvCxnSpPr>
          <p:nvPr/>
        </p:nvCxnSpPr>
        <p:spPr>
          <a:xfrm flipV="1">
            <a:off x="1771455" y="5674936"/>
            <a:ext cx="372359" cy="339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2146B57-6EF8-8DDF-BEE8-0B7DB0D74C57}"/>
              </a:ext>
            </a:extLst>
          </p:cNvPr>
          <p:cNvCxnSpPr>
            <a:cxnSpLocks/>
          </p:cNvCxnSpPr>
          <p:nvPr/>
        </p:nvCxnSpPr>
        <p:spPr>
          <a:xfrm flipV="1">
            <a:off x="7865883" y="5674936"/>
            <a:ext cx="372359" cy="339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4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0742E3-17CE-1CC2-EFC9-F82F1C824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7" y="157080"/>
            <a:ext cx="5918557" cy="302535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3174CE-474C-2AB1-75C7-18C1A1139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98" y="157080"/>
            <a:ext cx="5518215" cy="30253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84D189-4B0C-1E70-063A-6C4E33401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97" y="3348970"/>
            <a:ext cx="5518215" cy="3351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8CD8EB-E950-10E8-7AEC-01F6CADE5184}"/>
              </a:ext>
            </a:extLst>
          </p:cNvPr>
          <p:cNvSpPr txBox="1"/>
          <p:nvPr/>
        </p:nvSpPr>
        <p:spPr>
          <a:xfrm>
            <a:off x="321987" y="3348970"/>
            <a:ext cx="36929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Tableau Dashboard</a:t>
            </a:r>
            <a:br>
              <a:rPr lang="en-US" dirty="0"/>
            </a:br>
            <a:r>
              <a:rPr lang="en-US" dirty="0"/>
              <a:t>Interactive performance visualization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CC517C-D2CD-D138-3182-E600625B71A9}"/>
              </a:ext>
            </a:extLst>
          </p:cNvPr>
          <p:cNvSpPr txBox="1"/>
          <p:nvPr/>
        </p:nvSpPr>
        <p:spPr>
          <a:xfrm>
            <a:off x="2347571" y="4669419"/>
            <a:ext cx="33347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en-IN" b="1" dirty="0"/>
              <a:t>SQL Analysis</a:t>
            </a:r>
            <a:br>
              <a:rPr lang="en-IN" dirty="0"/>
            </a:br>
            <a:r>
              <a:rPr lang="en-IN" dirty="0"/>
              <a:t>Data validation &amp; KPI calculations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E0CA739-9437-2CFB-25EC-A9E934317F86}"/>
              </a:ext>
            </a:extLst>
          </p:cNvPr>
          <p:cNvCxnSpPr>
            <a:cxnSpLocks/>
          </p:cNvCxnSpPr>
          <p:nvPr/>
        </p:nvCxnSpPr>
        <p:spPr>
          <a:xfrm flipV="1">
            <a:off x="2302497" y="3196311"/>
            <a:ext cx="372359" cy="3393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120048F-1560-E91C-1502-2E52630EA6EB}"/>
              </a:ext>
            </a:extLst>
          </p:cNvPr>
          <p:cNvCxnSpPr/>
          <p:nvPr/>
        </p:nvCxnSpPr>
        <p:spPr>
          <a:xfrm>
            <a:off x="5637229" y="4835951"/>
            <a:ext cx="895546" cy="6127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2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624607"/>
            <a:ext cx="5257800" cy="10400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72200" y="1624607"/>
            <a:ext cx="5257800" cy="10400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3170783"/>
            <a:ext cx="5257800" cy="10400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72200" y="3170783"/>
            <a:ext cx="5257800" cy="10400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717107"/>
            <a:ext cx="5257800" cy="10400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4717107"/>
            <a:ext cx="5257800" cy="10400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2655093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2000" y="1624607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1624607"/>
            <a:ext cx="38100" cy="104001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10275" y="1624607"/>
            <a:ext cx="9525" cy="104001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655093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624607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624607"/>
            <a:ext cx="38100" cy="104001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420475" y="1624607"/>
            <a:ext cx="9525" cy="104001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2000" y="4201269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2000" y="3170783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2000" y="3170783"/>
            <a:ext cx="38100" cy="104001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10275" y="3170783"/>
            <a:ext cx="9525" cy="104001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4201269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170783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170783"/>
            <a:ext cx="38100" cy="104001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420475" y="3170783"/>
            <a:ext cx="9525" cy="104001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2000" y="5747593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2000" y="4717107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2000" y="4717107"/>
            <a:ext cx="38100" cy="104001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10275" y="4717107"/>
            <a:ext cx="9525" cy="104001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5747593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4717107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4717107"/>
            <a:ext cx="38100" cy="104001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420475" y="4717107"/>
            <a:ext cx="9525" cy="104001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8700" y="910545"/>
            <a:ext cx="349416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latin typeface="Plus Jakarta Sans"/>
              </a:rPr>
              <a:t>Major Challenges Faced</a:t>
            </a:r>
            <a:r>
              <a:rPr lang="en-US" sz="2700" b="1" i="0" u="none" dirty="0">
                <a:latin typeface="Plus Jakarta Sans"/>
              </a:rPr>
              <a:t>:</a:t>
            </a:r>
            <a:endParaRPr sz="2700" b="1" i="0" u="none" dirty="0">
              <a:latin typeface="Plus Jakarta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28700" y="1824632"/>
            <a:ext cx="623827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Combining Different Data 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" y="2091332"/>
            <a:ext cx="48482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Bringing together separate data files (customer details, product lists, sales records) so they work nicely in one system.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8900" y="1824632"/>
            <a:ext cx="57531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Cleaning Messy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8900" y="2091332"/>
            <a:ext cx="48482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Fixing missing information, removing duplicates, and ensuring consistent date and product name formatting.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3370808"/>
            <a:ext cx="623827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Setting Up Database Links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" y="3637508"/>
            <a:ext cx="48482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Connecting different MySQL tables correctly so that complex queries and reporting run without performance errors.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8900" y="3370808"/>
            <a:ext cx="57531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Tracking Sales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8900" y="3637508"/>
            <a:ext cx="48482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Following the customer purchasing journey step-by-step to identify where drop-offs happen before final checkout.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" y="4917132"/>
            <a:ext cx="623827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Keeping Dashboards Fast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" y="5183832"/>
            <a:ext cx="48482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Designing comprehensive reports in Excel, Tableau, and Power BI that load instantly under heavy record sets.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8900" y="4917132"/>
            <a:ext cx="57531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Organizing Product Categories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8900" y="5183832"/>
            <a:ext cx="48482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Grouping hundreds of different inventory items into clean, logical product categories for effortless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24607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72200" y="1624607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170783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3170783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717107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4717107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1853207"/>
            <a:ext cx="18097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853207"/>
            <a:ext cx="18097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399383"/>
            <a:ext cx="133350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3399383"/>
            <a:ext cx="2000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4945707"/>
            <a:ext cx="1047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4945707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3695" y="1101373"/>
            <a:ext cx="347050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bg1"/>
                </a:solidFill>
                <a:latin typeface="Plus Jakarta Sans"/>
              </a:rPr>
              <a:t>Major Business Insights</a:t>
            </a:r>
            <a:r>
              <a:rPr lang="en-US" sz="2700" b="1" i="0" u="none" dirty="0">
                <a:solidFill>
                  <a:schemeClr val="bg1"/>
                </a:solidFill>
                <a:latin typeface="Plus Jakarta Sans"/>
              </a:rPr>
              <a:t>:</a:t>
            </a:r>
            <a:endParaRPr sz="270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0125" y="1824632"/>
            <a:ext cx="6275784" cy="20955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Top-Selling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2091332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A small group of popular products drives most total sales, while a large inventory portion sells rarely.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1824632"/>
            <a:ext cx="5781675" cy="20955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Cart Abandonment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2091332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Many users abandon items before purchase, often triggered right when shipping costs or final checkout steps appear.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125" y="3370808"/>
            <a:ext cx="6275784" cy="20955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Discount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3637508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While massive discounts increase order volume, they significantly compress the net profit margin per transaction.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3370808"/>
            <a:ext cx="5781675" cy="209550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Customer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3637508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Regular loyal buyers demonstrate distinct purchasing behavior compared to one-time deal-driven shoppers.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125" y="4917132"/>
            <a:ext cx="6275784" cy="20955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Sales Locations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125" y="5183832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Certain cities and regions generate a much higher density of incoming orders than other geographic zones.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4917132"/>
            <a:ext cx="5781675" cy="20955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Traffic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325" y="5183832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Direct visitors and natural organic search users tend to buy more items than users arriving from social media 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24607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72200" y="1624607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170783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3170783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717107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4717107"/>
            <a:ext cx="5257800" cy="1040010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1853207"/>
            <a:ext cx="16192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853207"/>
            <a:ext cx="18097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399383"/>
            <a:ext cx="18097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3399383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4945707"/>
            <a:ext cx="1809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4945707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828675"/>
            <a:ext cx="441114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bg1"/>
                </a:solidFill>
                <a:latin typeface="Plus Jakarta Sans"/>
              </a:rPr>
              <a:t>Actionable Recommendations</a:t>
            </a:r>
            <a:r>
              <a:rPr lang="en-US" sz="2700" b="1" i="0" u="none" dirty="0">
                <a:solidFill>
                  <a:schemeClr val="bg1"/>
                </a:solidFill>
                <a:latin typeface="Plus Jakarta Sans"/>
              </a:rPr>
              <a:t>:</a:t>
            </a:r>
            <a:endParaRPr sz="270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0125" y="1824632"/>
            <a:ext cx="6275784" cy="20955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Focus on Loyal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2091332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Reward repeat buyers with special perks instead of relying solely on heavy sitewide discounts that hurt overall profit.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1824632"/>
            <a:ext cx="5781675" cy="20955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Improve the Checkout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2091332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Display shipping fees earlier in the shopping journey so customers are not surprised right at the final step.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125" y="3370808"/>
            <a:ext cx="6275784" cy="20955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Manage Stock Better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3637508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Keep sufficient inventory of best-selling items in stock to prevent stockouts and missed sales opportunities.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3370808"/>
            <a:ext cx="5781675" cy="20955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Smart Marketing Spending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3637508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Invest more advertising budget into channels and traffic sources that bring in customers who actually convert.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125" y="4917132"/>
            <a:ext cx="6275784" cy="20955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Better Data Habits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125" y="5183832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Regularly clean and organize data files to keep reports completely accurate as transaction volume scales.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4917132"/>
            <a:ext cx="5781675" cy="20955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Friendly Follow-ups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325" y="5183832"/>
            <a:ext cx="48768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Send automated reminder emails or messages to customers who left items in carts to encourage checkout completion.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2542401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713851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7615" y="3152001"/>
            <a:ext cx="2130070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chemeClr val="bg1"/>
                </a:solidFill>
                <a:latin typeface="Plus Jakarta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605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ADLaM Display</vt:lpstr>
      <vt:lpstr>Arial</vt:lpstr>
      <vt:lpstr>Calibri</vt:lpstr>
      <vt:lpstr>Calibri Light</vt:lpstr>
      <vt:lpstr>Courier New</vt:lpstr>
      <vt:lpstr>Plus Jakarta Sans</vt:lpstr>
      <vt:lpstr>Office Theme</vt:lpstr>
      <vt:lpstr>PowerPoint Presentation</vt:lpstr>
      <vt:lpstr>PowerPoint Presentation</vt:lpstr>
      <vt:lpstr>PowerPoint Presentation</vt:lpstr>
      <vt:lpstr>Dashboards &amp; SQL Analysis: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ATHUL REMESH PC</dc:creator>
  <cp:lastModifiedBy>ATHUL REMESH PC</cp:lastModifiedBy>
  <cp:revision>3</cp:revision>
  <dcterms:created xsi:type="dcterms:W3CDTF">2026-10-27T09:21:03Z</dcterms:created>
  <dcterms:modified xsi:type="dcterms:W3CDTF">2026-10-27T11:34:57Z</dcterms:modified>
</cp:coreProperties>
</file>